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8288000" cy="10287000"/>
  <p:notesSz cx="6858000" cy="9144000"/>
  <p:embeddedFontLst>
    <p:embeddedFont>
      <p:font typeface="Bell MT" panose="02020503060305020303" pitchFamily="18" charset="0"/>
      <p:regular r:id="rId15"/>
      <p:bold r:id="rId16"/>
      <p:italic r:id="rId17"/>
    </p:embeddedFont>
    <p:embeddedFont>
      <p:font typeface="DM Sans" pitchFamily="2" charset="0"/>
      <p:regular r:id="rId18"/>
      <p:bold r:id="rId19"/>
    </p:embeddedFont>
    <p:embeddedFont>
      <p:font typeface="DM Sans Bold" charset="0"/>
      <p:regular r:id="rId20"/>
    </p:embeddedFont>
    <p:embeddedFont>
      <p:font typeface="Georgia Pro Light" panose="02040302050405020303" pitchFamily="18" charset="0"/>
      <p:regular r:id="rId21"/>
    </p:embeddedFont>
    <p:embeddedFont>
      <p:font typeface="Leelawadee UI" panose="020B0502040204020203" pitchFamily="34" charset="-34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1600" cy="10287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734675" y="1762125"/>
            <a:ext cx="6886575" cy="409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99"/>
              </a:lnSpc>
            </a:pPr>
            <a:r>
              <a:rPr lang="en-US" sz="10499" dirty="0">
                <a:solidFill>
                  <a:srgbClr val="F0F4F8"/>
                </a:solidFill>
                <a:latin typeface="Bell MT" panose="02020503060305020303" pitchFamily="18" charset="0"/>
                <a:ea typeface="Georgia Pro Light"/>
                <a:cs typeface="Georgia Pro Light"/>
                <a:sym typeface="Georgia Pro Light"/>
              </a:rPr>
              <a:t>Supply Chain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1028700"/>
            <a:ext cx="8324850" cy="5604456"/>
            <a:chOff x="0" y="0"/>
            <a:chExt cx="11099800" cy="74726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Meet Our Project Contributors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33703"/>
              <a:ext cx="11099800" cy="3938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Hari Prasad Rao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Pradeep C. P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Namoju Sowmya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Sindhuja Samudrala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Priyanka Yadav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Anusha C.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4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Shiva Yadav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400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18161" y="159703"/>
            <a:ext cx="9851678" cy="1478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8000" b="1" dirty="0">
                <a:solidFill>
                  <a:srgbClr val="FFFFFF"/>
                </a:solidFill>
                <a:latin typeface="Georgia Pro Light" panose="020F0502020204030204" pitchFamily="18" charset="0"/>
                <a:ea typeface="Canva Sans Bold"/>
                <a:cs typeface="Canva Sans Bold"/>
                <a:sym typeface="Canva Sans Bold"/>
              </a:rPr>
              <a:t>Project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78697"/>
            <a:ext cx="16230600" cy="669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  <a:latin typeface="Leelawadee UI" panose="020B0502040204020203" pitchFamily="34" charset="-34"/>
                <a:ea typeface="Canva Sans"/>
                <a:cs typeface="Leelawadee UI" panose="020B0502040204020203" pitchFamily="34" charset="-34"/>
                <a:sym typeface="Canva Sans"/>
              </a:rPr>
              <a:t>The analysis covers Sales, Product, Store, and Inventory data across multiple regions and states to identify business performance trends.</a:t>
            </a:r>
          </a:p>
          <a:p>
            <a:pPr algn="l">
              <a:lnSpc>
                <a:spcPts val="3499"/>
              </a:lnSpc>
            </a:pPr>
            <a:endParaRPr lang="en-US" sz="2400" dirty="0">
              <a:solidFill>
                <a:srgbClr val="FFFFFF"/>
              </a:solidFill>
              <a:latin typeface="Leelawadee UI" panose="020B0502040204020203" pitchFamily="34" charset="-34"/>
              <a:ea typeface="Canva Sans"/>
              <a:cs typeface="Leelawadee UI" panose="020B0502040204020203" pitchFamily="34" charset="-34"/>
              <a:sym typeface="Canva Sans"/>
            </a:endParaRPr>
          </a:p>
          <a:p>
            <a:pPr marL="342900" indent="-342900" algn="l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  <a:latin typeface="Leelawadee UI" panose="020B0502040204020203" pitchFamily="34" charset="-34"/>
                <a:ea typeface="Canva Sans"/>
                <a:cs typeface="Leelawadee UI" panose="020B0502040204020203" pitchFamily="34" charset="-34"/>
                <a:sym typeface="Canva Sans"/>
              </a:rPr>
              <a:t>The total sales value observed is $388.13M, distributed across 37 states and over 1000 unique products.</a:t>
            </a:r>
          </a:p>
          <a:p>
            <a:pPr algn="l">
              <a:lnSpc>
                <a:spcPts val="3499"/>
              </a:lnSpc>
            </a:pPr>
            <a:endParaRPr lang="en-US" sz="2400" dirty="0">
              <a:solidFill>
                <a:srgbClr val="FFFFFF"/>
              </a:solidFill>
              <a:latin typeface="Leelawadee UI" panose="020B0502040204020203" pitchFamily="34" charset="-34"/>
              <a:ea typeface="Canva Sans"/>
              <a:cs typeface="Leelawadee UI" panose="020B0502040204020203" pitchFamily="34" charset="-34"/>
              <a:sym typeface="Canva Sans"/>
            </a:endParaRPr>
          </a:p>
          <a:p>
            <a:pPr marL="342900" indent="-342900" algn="l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  <a:latin typeface="Leelawadee UI" panose="020B0502040204020203" pitchFamily="34" charset="-34"/>
                <a:ea typeface="Canva Sans"/>
                <a:cs typeface="Leelawadee UI" panose="020B0502040204020203" pitchFamily="34" charset="-34"/>
                <a:sym typeface="Canva Sans"/>
              </a:rPr>
              <a:t>Arts &amp; Entertainment and Electronics categories performed the best, while Mobiles showed the lowest sales figures.</a:t>
            </a:r>
          </a:p>
          <a:p>
            <a:pPr algn="l">
              <a:lnSpc>
                <a:spcPts val="3499"/>
              </a:lnSpc>
            </a:pPr>
            <a:endParaRPr lang="en-US" sz="2400" dirty="0">
              <a:solidFill>
                <a:srgbClr val="FFFFFF"/>
              </a:solidFill>
              <a:latin typeface="Leelawadee UI" panose="020B0502040204020203" pitchFamily="34" charset="-34"/>
              <a:ea typeface="Canva Sans"/>
              <a:cs typeface="Leelawadee UI" panose="020B0502040204020203" pitchFamily="34" charset="-34"/>
              <a:sym typeface="Canva Sans"/>
            </a:endParaRPr>
          </a:p>
          <a:p>
            <a:pPr marL="342900" indent="-342900" algn="l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  <a:latin typeface="Leelawadee UI" panose="020B0502040204020203" pitchFamily="34" charset="-34"/>
                <a:ea typeface="Canva Sans"/>
                <a:cs typeface="Leelawadee UI" panose="020B0502040204020203" pitchFamily="34" charset="-34"/>
                <a:sym typeface="Canva Sans"/>
              </a:rPr>
              <a:t>The West Region, particularly California, generated the highest sales, followed by the South Region.</a:t>
            </a:r>
          </a:p>
          <a:p>
            <a:pPr marL="342900" indent="-342900" algn="l">
              <a:lnSpc>
                <a:spcPts val="3499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FFFFFF"/>
              </a:solidFill>
              <a:latin typeface="Leelawadee UI" panose="020B0502040204020203" pitchFamily="34" charset="-34"/>
              <a:ea typeface="Canva Sans"/>
              <a:cs typeface="Leelawadee UI" panose="020B0502040204020203" pitchFamily="34" charset="-34"/>
              <a:sym typeface="Canva Sans"/>
            </a:endParaRPr>
          </a:p>
          <a:p>
            <a:pPr marL="342900" indent="-342900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  <a:latin typeface="Leelawadee UI" panose="020B0502040204020203" pitchFamily="34" charset="-34"/>
                <a:ea typeface="Canva Sans"/>
                <a:cs typeface="Leelawadee UI" panose="020B0502040204020203" pitchFamily="34" charset="-34"/>
                <a:sym typeface="Canva Sans"/>
              </a:rPr>
              <a:t>Among stores, Woodland store had the top sales performance, while New York store recorded the lowest.</a:t>
            </a:r>
          </a:p>
          <a:p>
            <a:pPr algn="l">
              <a:lnSpc>
                <a:spcPts val="3499"/>
              </a:lnSpc>
            </a:pPr>
            <a:endParaRPr lang="en-US" sz="2400" dirty="0">
              <a:solidFill>
                <a:srgbClr val="FFFFFF"/>
              </a:solidFill>
              <a:latin typeface="Leelawadee UI" panose="020B0502040204020203" pitchFamily="34" charset="-34"/>
              <a:ea typeface="Canva Sans"/>
              <a:cs typeface="Leelawadee UI" panose="020B0502040204020203" pitchFamily="34" charset="-34"/>
              <a:sym typeface="Canva Sans"/>
            </a:endParaRPr>
          </a:p>
          <a:p>
            <a:pPr marL="342900" indent="-342900" algn="l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  <a:latin typeface="Leelawadee UI" panose="020B0502040204020203" pitchFamily="34" charset="-34"/>
                <a:ea typeface="Canva Sans"/>
                <a:cs typeface="Leelawadee UI" panose="020B0502040204020203" pitchFamily="34" charset="-34"/>
                <a:sym typeface="Canva Sans"/>
              </a:rPr>
              <a:t>Inventory analysis revealed overstocking in a few product families and stock shortages in high-demand items.</a:t>
            </a:r>
          </a:p>
          <a:p>
            <a:pPr algn="l">
              <a:lnSpc>
                <a:spcPts val="3499"/>
              </a:lnSpc>
            </a:pPr>
            <a:endParaRPr lang="en-US" sz="2400" dirty="0">
              <a:solidFill>
                <a:srgbClr val="FFFFFF"/>
              </a:solidFill>
              <a:latin typeface="Leelawadee UI" panose="020B0502040204020203" pitchFamily="34" charset="-34"/>
              <a:ea typeface="Canva Sans"/>
              <a:cs typeface="Leelawadee UI" panose="020B0502040204020203" pitchFamily="34" charset="-34"/>
              <a:sym typeface="Canva Sans"/>
            </a:endParaRPr>
          </a:p>
          <a:p>
            <a:pPr marL="342900" indent="-342900" algn="l">
              <a:lnSpc>
                <a:spcPts val="349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FF"/>
                </a:solidFill>
                <a:latin typeface="Leelawadee UI" panose="020B0502040204020203" pitchFamily="34" charset="-34"/>
                <a:ea typeface="Canva Sans"/>
                <a:cs typeface="Leelawadee UI" panose="020B0502040204020203" pitchFamily="34" charset="-34"/>
                <a:sym typeface="Canva Sans"/>
              </a:rPr>
              <a:t>Purchase Method analysis showed that in-store purchases still dominate sales, though online transactions are gradually increasing.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1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5750" y="2425224"/>
            <a:ext cx="7191375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ts val="364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F0F4F8"/>
                </a:solidFill>
                <a:latin typeface="DM Sans Bold"/>
                <a:ea typeface="DM Sans Bold"/>
                <a:cs typeface="DM Sans Bold"/>
                <a:sym typeface="DM Sans Bold"/>
              </a:rPr>
              <a:t>TOTAL SALES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5750" y="4140994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364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F0F4F8"/>
                </a:solidFill>
                <a:latin typeface="DM Sans Bold"/>
                <a:ea typeface="DM Sans Bold"/>
                <a:cs typeface="DM Sans Bold"/>
                <a:sym typeface="DM Sans Bold"/>
              </a:rPr>
              <a:t>SALES GROWTH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5750" y="9015095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364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F0F4F8"/>
                </a:solidFill>
                <a:latin typeface="DM Sans Bold"/>
                <a:ea typeface="DM Sans Bold"/>
                <a:cs typeface="DM Sans Bold"/>
                <a:sym typeface="DM Sans Bold"/>
              </a:rPr>
              <a:t>PURCHASE METHOD WISE SALES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5750" y="3283109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364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F0F4F8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 WISE SALES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0F4F8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KPI List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5750" y="4900295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364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F0F4F8"/>
                </a:solidFill>
                <a:latin typeface="DM Sans Bold"/>
                <a:ea typeface="DM Sans Bold"/>
                <a:cs typeface="DM Sans Bold"/>
                <a:sym typeface="DM Sans Bold"/>
              </a:rPr>
              <a:t>DAILY SALES TREND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5750" y="5696267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364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F0F4F8"/>
                </a:solidFill>
                <a:latin typeface="DM Sans Bold"/>
                <a:ea typeface="DM Sans Bold"/>
                <a:cs typeface="DM Sans Bold"/>
                <a:sym typeface="DM Sans Bold"/>
              </a:rPr>
              <a:t>TOP 5 STORE WISE SALES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5750" y="6487477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364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F0F4F8"/>
                </a:solidFill>
                <a:latin typeface="DM Sans Bold"/>
                <a:ea typeface="DM Sans Bold"/>
                <a:cs typeface="DM Sans Bold"/>
                <a:sym typeface="DM Sans Bold"/>
              </a:rPr>
              <a:t>REGION WISE SALES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5750" y="8227060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364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F0F4F8"/>
                </a:solidFill>
                <a:latin typeface="DM Sans Bold"/>
                <a:ea typeface="DM Sans Bold"/>
                <a:cs typeface="DM Sans Bold"/>
                <a:sym typeface="DM Sans Bold"/>
              </a:rPr>
              <a:t>PROFIT PERCENTAGE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750" y="7369175"/>
            <a:ext cx="71913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364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solidFill>
                  <a:srgbClr val="F0F4F8"/>
                </a:solidFill>
                <a:latin typeface="DM Sans Bold"/>
                <a:ea typeface="DM Sans Bold"/>
                <a:cs typeface="DM Sans Bold"/>
                <a:sym typeface="DM Sans Bold"/>
              </a:rPr>
              <a:t>INVENTORY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13628" y="190501"/>
            <a:ext cx="17621250" cy="1924451"/>
            <a:chOff x="0" y="66675"/>
            <a:chExt cx="23495000" cy="2565935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Excel Dashboard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662259"/>
              <a:ext cx="23495000" cy="9703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The Excel Dashboard provides a comprehensive view of </a:t>
              </a:r>
              <a:r>
                <a:rPr lang="en-US" sz="2100" b="1" dirty="0">
                  <a:solidFill>
                    <a:srgbClr val="F0F4F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critical metrics</a:t>
              </a:r>
              <a:r>
                <a:rPr lang="en-US" sz="2100" dirty="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 and features essential for evaluating supply chain efficiency, enabling proactive decision-making and strategic analysis.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656D8A5-5777-F7A2-6246-04566494F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06" y="2400300"/>
            <a:ext cx="16955894" cy="7696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81000" y="190500"/>
            <a:ext cx="8991600" cy="7972135"/>
            <a:chOff x="-381000" y="-635000"/>
            <a:chExt cx="11988800" cy="10629513"/>
          </a:xfrm>
        </p:grpSpPr>
        <p:sp>
          <p:nvSpPr>
            <p:cNvPr id="5" name="TextBox 5"/>
            <p:cNvSpPr txBox="1"/>
            <p:nvPr/>
          </p:nvSpPr>
          <p:spPr>
            <a:xfrm>
              <a:off x="0" y="-635000"/>
              <a:ext cx="11607800" cy="15046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Tableau Dashboard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381000" y="1586228"/>
              <a:ext cx="2463800" cy="84082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The Tableau Dashboard provides </a:t>
              </a:r>
              <a:r>
                <a:rPr lang="en-US" sz="2100" b="1" dirty="0">
                  <a:solidFill>
                    <a:srgbClr val="F0F4F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interactive visualizations</a:t>
              </a:r>
              <a:r>
                <a:rPr lang="en-US" sz="2100" dirty="0">
                  <a:solidFill>
                    <a:srgbClr val="F0F4F8"/>
                  </a:solidFill>
                  <a:latin typeface="DM Sans"/>
                  <a:ea typeface="DM Sans"/>
                  <a:cs typeface="DM Sans"/>
                  <a:sym typeface="DM Sans"/>
                </a:rPr>
                <a:t> and advanced analytics capabilities, enabling real-time data insights to drive strategic decision-making and enhance supply chain efficiency.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2780A8E-8FEF-D015-E645-79789359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1" y="1638301"/>
            <a:ext cx="15419746" cy="845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1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" y="250389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solidFill>
                  <a:srgbClr val="F0F4F8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Power BI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F7FE8-D03D-49A5-8F05-4CDC8ABAC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99742"/>
            <a:ext cx="17449800" cy="86368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66750" y="716756"/>
            <a:ext cx="8324850" cy="1166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dirty="0">
                <a:solidFill>
                  <a:srgbClr val="F0F4F8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SQL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17D28-6657-E6EE-CFCD-5607A446B60F}"/>
              </a:ext>
            </a:extLst>
          </p:cNvPr>
          <p:cNvSpPr txBox="1"/>
          <p:nvPr/>
        </p:nvSpPr>
        <p:spPr>
          <a:xfrm>
            <a:off x="610993" y="2095500"/>
            <a:ext cx="2546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KPI Calculations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3B6BAB-DAA0-0AF7-6D38-0FD388F6D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557165"/>
            <a:ext cx="14973300" cy="75393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7725" y="266700"/>
            <a:ext cx="158210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solidFill>
                  <a:srgbClr val="F0F4F8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Suggestions for Supply Chain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38200" y="2095500"/>
            <a:ext cx="16592550" cy="710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00" b="1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KPI 1. Total Sales (MTD, QTD, YTD)</a:t>
            </a:r>
          </a:p>
          <a:p>
            <a:pPr algn="l">
              <a:lnSpc>
                <a:spcPts val="3499"/>
              </a:lnSpc>
            </a:pPr>
            <a:r>
              <a:rPr lang="en-US" sz="2400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Regularly monitor and compare Month-to-Date (MTD), Quarter-to-Date(QTD) and Year-to-Date(YTD) sales against business targets. These KPIs help track performance, identify seasonal trends and understand overall business growth.</a:t>
            </a:r>
          </a:p>
          <a:p>
            <a:pPr algn="l">
              <a:lnSpc>
                <a:spcPts val="3499"/>
              </a:lnSpc>
            </a:pPr>
            <a:endParaRPr lang="en-US" sz="2400" dirty="0">
              <a:solidFill>
                <a:srgbClr val="F0F4F8"/>
              </a:solidFill>
              <a:latin typeface="Leelawadee UI" panose="020B0502040204020203" pitchFamily="34" charset="-34"/>
              <a:ea typeface="DM Sans"/>
              <a:cs typeface="Leelawadee UI" panose="020B0502040204020203" pitchFamily="34" charset="-34"/>
              <a:sym typeface="DM Sans"/>
            </a:endParaRPr>
          </a:p>
          <a:p>
            <a:pPr marL="0" lvl="0" indent="0" algn="l">
              <a:lnSpc>
                <a:spcPts val="3499"/>
              </a:lnSpc>
            </a:pPr>
            <a:r>
              <a:rPr lang="en-US" sz="2400" b="1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KPI 2. Product-wise Sales</a:t>
            </a:r>
          </a:p>
          <a:p>
            <a:pPr marL="0" lvl="0" indent="0" algn="l">
              <a:lnSpc>
                <a:spcPts val="3499"/>
              </a:lnSpc>
            </a:pPr>
            <a:r>
              <a:rPr lang="en-US" sz="2400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Analyze product-wise sales to determine which products are performing well and which are underperforming. This supports inventory planning, marketing strategy and product improvement decisions.</a:t>
            </a:r>
          </a:p>
          <a:p>
            <a:pPr marL="0" lvl="0" indent="0" algn="l">
              <a:lnSpc>
                <a:spcPts val="3499"/>
              </a:lnSpc>
            </a:pPr>
            <a:endParaRPr lang="en-US" sz="2400" dirty="0">
              <a:solidFill>
                <a:srgbClr val="F0F4F8"/>
              </a:solidFill>
              <a:latin typeface="Leelawadee UI" panose="020B0502040204020203" pitchFamily="34" charset="-34"/>
              <a:ea typeface="DM Sans"/>
              <a:cs typeface="Leelawadee UI" panose="020B0502040204020203" pitchFamily="34" charset="-34"/>
              <a:sym typeface="DM Sans"/>
            </a:endParaRPr>
          </a:p>
          <a:p>
            <a:pPr marL="0" lvl="0" indent="0" algn="l">
              <a:lnSpc>
                <a:spcPts val="3499"/>
              </a:lnSpc>
            </a:pPr>
            <a:r>
              <a:rPr lang="en-US" sz="2400" b="1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KPI 3. Sales Growth</a:t>
            </a:r>
          </a:p>
          <a:p>
            <a:pPr marL="0" lvl="0" indent="0" algn="l">
              <a:lnSpc>
                <a:spcPts val="3499"/>
              </a:lnSpc>
            </a:pPr>
            <a:r>
              <a:rPr lang="en-US" sz="2400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Track sales growth over different time periods to measure business expansion. Comparing growth trends across months or quarter helps identify successful strategies and highlight areas needing improvement.</a:t>
            </a:r>
          </a:p>
          <a:p>
            <a:pPr marL="0" lvl="0" indent="0" algn="l">
              <a:lnSpc>
                <a:spcPts val="3499"/>
              </a:lnSpc>
            </a:pPr>
            <a:endParaRPr lang="en-US" sz="2400" dirty="0">
              <a:solidFill>
                <a:srgbClr val="F0F4F8"/>
              </a:solidFill>
              <a:latin typeface="Leelawadee UI" panose="020B0502040204020203" pitchFamily="34" charset="-34"/>
              <a:ea typeface="DM Sans"/>
              <a:cs typeface="Leelawadee UI" panose="020B0502040204020203" pitchFamily="34" charset="-34"/>
              <a:sym typeface="DM Sans"/>
            </a:endParaRPr>
          </a:p>
          <a:p>
            <a:pPr lvl="0">
              <a:lnSpc>
                <a:spcPts val="3499"/>
              </a:lnSpc>
            </a:pPr>
            <a:r>
              <a:rPr lang="en-US" sz="2400" b="1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KPI 4. Daily Sales Trend</a:t>
            </a:r>
          </a:p>
          <a:p>
            <a:pPr lvl="0">
              <a:lnSpc>
                <a:spcPts val="3499"/>
              </a:lnSpc>
            </a:pPr>
            <a:r>
              <a:rPr lang="en-US" sz="2400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Monitor daily sales to react quickly to market changes and customer behavior. This helps in adjusting pricing, promotions or marketing campaigns in real time.</a:t>
            </a:r>
          </a:p>
          <a:p>
            <a:pPr marL="0" lvl="0" indent="0" algn="l">
              <a:lnSpc>
                <a:spcPts val="2940"/>
              </a:lnSpc>
            </a:pPr>
            <a:endParaRPr lang="en-US" sz="2499" dirty="0">
              <a:solidFill>
                <a:srgbClr val="F0F4F8"/>
              </a:solidFill>
              <a:latin typeface="Leelawadee UI" panose="020B0502040204020203" pitchFamily="34" charset="-34"/>
              <a:ea typeface="DM Sans"/>
              <a:cs typeface="Leelawadee UI" panose="020B0502040204020203" pitchFamily="34" charset="-34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2788"/>
            <a:ext cx="16434941" cy="1030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en-US" sz="8000" dirty="0">
                <a:solidFill>
                  <a:srgbClr val="FFFFFF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Suggestions for Supply Chain</a:t>
            </a:r>
          </a:p>
          <a:p>
            <a:pPr algn="l">
              <a:lnSpc>
                <a:spcPts val="2749"/>
              </a:lnSpc>
              <a:spcBef>
                <a:spcPct val="0"/>
              </a:spcBef>
            </a:pPr>
            <a:endParaRPr lang="en-US" sz="8000" dirty="0">
              <a:solidFill>
                <a:srgbClr val="FFFFFF"/>
              </a:solidFill>
              <a:latin typeface="DM Sans" panose="020F0502020204030204" pitchFamily="2" charset="0"/>
              <a:ea typeface="Georgia Pro Light"/>
              <a:cs typeface="Georgia Pro Light"/>
              <a:sym typeface="Georgia Pro Light"/>
            </a:endParaRPr>
          </a:p>
          <a:p>
            <a:pPr algn="l">
              <a:lnSpc>
                <a:spcPts val="2749"/>
              </a:lnSpc>
              <a:spcBef>
                <a:spcPct val="0"/>
              </a:spcBef>
            </a:pPr>
            <a:endParaRPr lang="en-US" sz="8000" dirty="0">
              <a:solidFill>
                <a:srgbClr val="FFFFFF"/>
              </a:solidFill>
              <a:latin typeface="DM Sans" panose="020F0502020204030204" pitchFamily="2" charset="0"/>
              <a:ea typeface="Georgia Pro Light"/>
              <a:cs typeface="Georgia Pro Light"/>
              <a:sym typeface="Georgia Pro Light"/>
            </a:endParaRP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0F4F8"/>
                </a:solidFill>
                <a:latin typeface="Leelawadee UI" panose="020B0502040204020203" pitchFamily="34" charset="-34"/>
                <a:cs typeface="Leelawadee UI" panose="020B0502040204020203" pitchFamily="34" charset="-34"/>
                <a:sym typeface="Georgia Pro Light"/>
              </a:rPr>
              <a:t>KPI 5. State-wise Sales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0F4F8"/>
                </a:solidFill>
                <a:latin typeface="Leelawadee UI" panose="020B0502040204020203" pitchFamily="34" charset="-34"/>
                <a:cs typeface="Leelawadee UI" panose="020B0502040204020203" pitchFamily="34" charset="-34"/>
                <a:sym typeface="Georgia Pro Light"/>
              </a:rPr>
              <a:t>Evaluate state-level sales performance to identify regional differences. This helps optimize regional marketing, distribution strategies, and resource allocation.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rgbClr val="F0F4F8"/>
              </a:solidFill>
              <a:latin typeface="Leelawadee UI" panose="020B0502040204020203" pitchFamily="34" charset="-34"/>
              <a:cs typeface="Leelawadee UI" panose="020B0502040204020203" pitchFamily="34" charset="-34"/>
              <a:sym typeface="Georgia Pro Light"/>
            </a:endParaRP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0F4F8"/>
                </a:solidFill>
                <a:latin typeface="Leelawadee UI" panose="020B0502040204020203" pitchFamily="34" charset="-34"/>
                <a:cs typeface="Leelawadee UI" panose="020B0502040204020203" pitchFamily="34" charset="-34"/>
                <a:sym typeface="Georgia Pro Light"/>
              </a:rPr>
              <a:t>KPI 6. Top Store-wise Sales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0F4F8"/>
                </a:solidFill>
                <a:latin typeface="Leelawadee UI" panose="020B0502040204020203" pitchFamily="34" charset="-34"/>
                <a:cs typeface="Leelawadee UI" panose="020B0502040204020203" pitchFamily="34" charset="-34"/>
                <a:sym typeface="Georgia Pro Light"/>
              </a:rPr>
              <a:t>Focus on top-performing stores to understand what drives their success. Best practices from high-performing locations can be applied to underperforming stores.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endParaRPr lang="en-US" sz="2499" b="1" dirty="0">
              <a:solidFill>
                <a:srgbClr val="F0F4F8"/>
              </a:solidFill>
              <a:latin typeface="Leelawadee UI" panose="020B0502040204020203" pitchFamily="34" charset="-34"/>
              <a:cs typeface="Leelawadee UI" panose="020B0502040204020203" pitchFamily="34" charset="-34"/>
              <a:sym typeface="Georgia Pro Light"/>
            </a:endParaRP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0F4F8"/>
                </a:solidFill>
                <a:latin typeface="Leelawadee UI" panose="020B0502040204020203" pitchFamily="34" charset="-34"/>
                <a:cs typeface="Leelawadee UI" panose="020B0502040204020203" pitchFamily="34" charset="-34"/>
                <a:sym typeface="Georgia Pro Light"/>
              </a:rPr>
              <a:t>KPI 7. Region-wise Sales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0F4F8"/>
                </a:solidFill>
                <a:latin typeface="Leelawadee UI" panose="020B0502040204020203" pitchFamily="34" charset="-34"/>
                <a:cs typeface="Leelawadee UI" panose="020B0502040204020203" pitchFamily="34" charset="-34"/>
                <a:sym typeface="Georgia Pro Light"/>
              </a:rPr>
              <a:t>Assess region-wise sales to understand market potential and customer demand in each region, enabling better strategic planning and targeted decision-making.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F0F4F8"/>
              </a:solidFill>
              <a:latin typeface="Leelawadee UI" panose="020B0502040204020203" pitchFamily="34" charset="-34"/>
              <a:cs typeface="Leelawadee UI" panose="020B0502040204020203" pitchFamily="34" charset="-34"/>
              <a:sym typeface="Georgia Pro Light"/>
            </a:endParaRP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0F4F8"/>
                </a:solidFill>
                <a:latin typeface="Leelawadee UI" panose="020B0502040204020203" pitchFamily="34" charset="-34"/>
                <a:cs typeface="Leelawadee UI" panose="020B0502040204020203" pitchFamily="34" charset="-34"/>
                <a:sym typeface="Georgia Pro Light"/>
              </a:rPr>
              <a:t>KPI 8. Inventory Value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0F4F8"/>
                </a:solidFill>
                <a:latin typeface="Leelawadee UI" panose="020B0502040204020203" pitchFamily="34" charset="-34"/>
                <a:cs typeface="Leelawadee UI" panose="020B0502040204020203" pitchFamily="34" charset="-34"/>
                <a:sym typeface="Georgia Pro Light"/>
              </a:rPr>
              <a:t>Monitor inventory value to understand the financial impact of stock on the business. This supports better budgeting, forecasting, and capital utilization.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F0F4F8"/>
              </a:solidFill>
              <a:latin typeface="Leelawadee UI" panose="020B0502040204020203" pitchFamily="34" charset="-34"/>
              <a:cs typeface="Leelawadee UI" panose="020B0502040204020203" pitchFamily="34" charset="-34"/>
              <a:sym typeface="Georgia Pro Light"/>
            </a:endParaRP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F0F4F8"/>
                </a:solidFill>
                <a:latin typeface="Leelawadee UI" panose="020B0502040204020203" pitchFamily="34" charset="-34"/>
                <a:cs typeface="Leelawadee UI" panose="020B0502040204020203" pitchFamily="34" charset="-34"/>
                <a:sym typeface="Georgia Pro Light"/>
              </a:rPr>
              <a:t>KPI 9. Profit %</a:t>
            </a:r>
          </a:p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0F4F8"/>
                </a:solidFill>
                <a:latin typeface="Leelawadee UI" panose="020B0502040204020203" pitchFamily="34" charset="-34"/>
                <a:cs typeface="Leelawadee UI" panose="020B0502040204020203" pitchFamily="34" charset="-34"/>
                <a:sym typeface="Georgia Pro Light"/>
              </a:rPr>
              <a:t>Compare company profit margin with targets and industry benchmarks. Tracking profit trends over time helps measure financial health and identify opportunities to improve profitability.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A7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19002-F410-390D-193A-412E97FA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6E4AE7D-62F3-B930-F2C4-D9BE35467474}"/>
              </a:ext>
            </a:extLst>
          </p:cNvPr>
          <p:cNvSpPr txBox="1"/>
          <p:nvPr/>
        </p:nvSpPr>
        <p:spPr>
          <a:xfrm>
            <a:off x="847725" y="266700"/>
            <a:ext cx="158210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solidFill>
                  <a:srgbClr val="F0F4F8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Suggestions for Supply Chain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320C47C-4B13-54F2-752C-B6B31454A6A9}"/>
              </a:ext>
            </a:extLst>
          </p:cNvPr>
          <p:cNvSpPr txBox="1"/>
          <p:nvPr/>
        </p:nvSpPr>
        <p:spPr>
          <a:xfrm>
            <a:off x="838200" y="2095500"/>
            <a:ext cx="16592550" cy="309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00" b="1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KPI 10. Total Inventory</a:t>
            </a:r>
          </a:p>
          <a:p>
            <a:pPr>
              <a:lnSpc>
                <a:spcPts val="3499"/>
              </a:lnSpc>
            </a:pPr>
            <a:r>
              <a:rPr lang="en-US" sz="2400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Track total inventory levels to ensure optimal stock management. Balanced inventory prevents overstocking and stockouts, reducing holding costs and improving cash flow.</a:t>
            </a:r>
          </a:p>
          <a:p>
            <a:pPr>
              <a:lnSpc>
                <a:spcPts val="3499"/>
              </a:lnSpc>
            </a:pPr>
            <a:endParaRPr lang="en-US" sz="2400" dirty="0">
              <a:solidFill>
                <a:srgbClr val="F0F4F8"/>
              </a:solidFill>
              <a:latin typeface="Leelawadee UI" panose="020B0502040204020203" pitchFamily="34" charset="-34"/>
              <a:ea typeface="DM Sans"/>
              <a:cs typeface="Leelawadee UI" panose="020B0502040204020203" pitchFamily="34" charset="-34"/>
              <a:sym typeface="DM Sans"/>
            </a:endParaRPr>
          </a:p>
          <a:p>
            <a:pPr lvl="0">
              <a:lnSpc>
                <a:spcPts val="3499"/>
              </a:lnSpc>
            </a:pPr>
            <a:r>
              <a:rPr lang="en-US" sz="2400" b="1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KPI 11. Purchase Method-wise Sales</a:t>
            </a:r>
          </a:p>
          <a:p>
            <a:pPr lvl="0">
              <a:lnSpc>
                <a:spcPts val="3499"/>
              </a:lnSpc>
            </a:pPr>
            <a:r>
              <a:rPr lang="en-US" sz="2400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rPr>
              <a:t>Analyze sales by purchase method (online, in-store, card, cash, mobile, etc.) to understand customer preferences. This supports channel optimization and enhances customer experience.</a:t>
            </a:r>
            <a:endParaRPr lang="en-US" sz="2499" dirty="0">
              <a:solidFill>
                <a:srgbClr val="F0F4F8"/>
              </a:solidFill>
              <a:latin typeface="Leelawadee UI" panose="020B0502040204020203" pitchFamily="34" charset="-34"/>
              <a:ea typeface="DM Sans"/>
              <a:cs typeface="Leelawadee UI" panose="020B0502040204020203" pitchFamily="34" charset="-34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788536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1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38872" y="716756"/>
            <a:ext cx="8352728" cy="7414396"/>
            <a:chOff x="-37171" y="66675"/>
            <a:chExt cx="11136971" cy="9885860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dirty="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Key Takeaways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37171" y="2514601"/>
              <a:ext cx="11099800" cy="7437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algn="l">
                <a:lnSpc>
                  <a:spcPts val="2940"/>
                </a:lnSpc>
                <a:buFont typeface="Wingdings" panose="05000000000000000000" pitchFamily="2" charset="2"/>
                <a:buChar char="v"/>
              </a:pPr>
              <a:r>
                <a:rPr lang="en-US" sz="27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Data-driven decisions can significantly enhance sales efficiency and inventory turnover.</a:t>
              </a:r>
            </a:p>
            <a:p>
              <a:pPr marL="342900" indent="-342900" algn="l">
                <a:lnSpc>
                  <a:spcPts val="2940"/>
                </a:lnSpc>
                <a:buFont typeface="Wingdings" panose="05000000000000000000" pitchFamily="2" charset="2"/>
                <a:buChar char="v"/>
              </a:pPr>
              <a:endParaRPr lang="en-US" sz="2700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endParaRPr>
            </a:p>
            <a:p>
              <a:pPr marL="342900" indent="-342900" algn="l">
                <a:lnSpc>
                  <a:spcPts val="2940"/>
                </a:lnSpc>
                <a:buFont typeface="Wingdings" panose="05000000000000000000" pitchFamily="2" charset="2"/>
                <a:buChar char="v"/>
              </a:pPr>
              <a:r>
                <a:rPr lang="en-US" sz="27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Maintaining balanced stock levels improves customer satisfaction and cash flow stability</a:t>
              </a:r>
            </a:p>
            <a:p>
              <a:pPr marL="342900" indent="-342900" algn="l">
                <a:lnSpc>
                  <a:spcPts val="2940"/>
                </a:lnSpc>
                <a:buFont typeface="Wingdings" panose="05000000000000000000" pitchFamily="2" charset="2"/>
                <a:buChar char="v"/>
              </a:pPr>
              <a:endParaRPr lang="en-US" sz="2700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endParaRPr>
            </a:p>
            <a:p>
              <a:pPr marL="342900" indent="-342900" algn="l">
                <a:lnSpc>
                  <a:spcPts val="2940"/>
                </a:lnSpc>
                <a:buFont typeface="Wingdings" panose="05000000000000000000" pitchFamily="2" charset="2"/>
                <a:buChar char="v"/>
              </a:pPr>
              <a:r>
                <a:rPr lang="en-US" sz="27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Regional and product-wise insights support targeted marketing and store-level strategy </a:t>
              </a:r>
            </a:p>
            <a:p>
              <a:pPr marL="342900" indent="-342900" algn="l">
                <a:lnSpc>
                  <a:spcPts val="2940"/>
                </a:lnSpc>
                <a:buFont typeface="Wingdings" panose="05000000000000000000" pitchFamily="2" charset="2"/>
                <a:buChar char="v"/>
              </a:pPr>
              <a:endParaRPr lang="en-US" sz="2700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endParaRPr>
            </a:p>
            <a:p>
              <a:pPr marL="342900" indent="-342900" algn="l">
                <a:lnSpc>
                  <a:spcPts val="2940"/>
                </a:lnSpc>
                <a:buFont typeface="Wingdings" panose="05000000000000000000" pitchFamily="2" charset="2"/>
                <a:buChar char="v"/>
              </a:pPr>
              <a:r>
                <a:rPr lang="en-US" sz="27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Continuous KPI monitoring ensures consistent business growth and early issue detection.</a:t>
              </a:r>
            </a:p>
            <a:p>
              <a:pPr marL="342900" lvl="0" indent="-342900" algn="l">
                <a:lnSpc>
                  <a:spcPts val="2940"/>
                </a:lnSpc>
                <a:buFont typeface="Wingdings" panose="05000000000000000000" pitchFamily="2" charset="2"/>
                <a:buChar char="v"/>
              </a:pPr>
              <a:endParaRPr lang="en-US" sz="2700" dirty="0">
                <a:solidFill>
                  <a:srgbClr val="F0F4F8"/>
                </a:solidFill>
                <a:latin typeface="Leelawadee UI" panose="020B0502040204020203" pitchFamily="34" charset="-34"/>
                <a:ea typeface="DM Sans"/>
                <a:cs typeface="Leelawadee UI" panose="020B0502040204020203" pitchFamily="34" charset="-34"/>
                <a:sym typeface="DM Sans"/>
              </a:endParaRPr>
            </a:p>
            <a:p>
              <a:pPr marL="342900" lvl="0" indent="-342900" algn="l">
                <a:lnSpc>
                  <a:spcPts val="2940"/>
                </a:lnSpc>
                <a:buFont typeface="Wingdings" panose="05000000000000000000" pitchFamily="2" charset="2"/>
                <a:buChar char="v"/>
              </a:pPr>
              <a:r>
                <a:rPr lang="en-US" sz="2700" dirty="0">
                  <a:solidFill>
                    <a:srgbClr val="F0F4F8"/>
                  </a:solidFill>
                  <a:latin typeface="Leelawadee UI" panose="020B0502040204020203" pitchFamily="34" charset="-34"/>
                  <a:ea typeface="DM Sans"/>
                  <a:cs typeface="Leelawadee UI" panose="020B0502040204020203" pitchFamily="34" charset="-34"/>
                  <a:sym typeface="DM Sans"/>
                </a:rPr>
                <a:t>The analysis demonstrates how data visualization and analytics tools (Excel, Power Bl, Tableau, SQL)help in making strategic supply chain decisions.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23875" y="4366260"/>
            <a:ext cx="9763125" cy="1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11500" u="none" strike="noStrike" dirty="0">
                <a:solidFill>
                  <a:srgbClr val="F0F4F8"/>
                </a:solidFill>
                <a:latin typeface="Bell MT" panose="02020503060305020303" pitchFamily="18" charset="0"/>
                <a:ea typeface="Georgia Pro Light"/>
                <a:cs typeface="Georgia Pro Light"/>
                <a:sym typeface="Georgia Pro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696</Words>
  <Application>Microsoft Office PowerPoint</Application>
  <PresentationFormat>Custom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Bell MT</vt:lpstr>
      <vt:lpstr>Leelawadee UI</vt:lpstr>
      <vt:lpstr>DM Sans</vt:lpstr>
      <vt:lpstr>Georgia Pro Light</vt:lpstr>
      <vt:lpstr>Wingdings</vt:lpstr>
      <vt:lpstr>Calibri</vt:lpstr>
      <vt:lpstr>Arial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Supply Chain</dc:title>
  <dc:description>Presentation - Supply Chain</dc:description>
  <cp:lastModifiedBy>Lenovo</cp:lastModifiedBy>
  <cp:revision>36</cp:revision>
  <dcterms:created xsi:type="dcterms:W3CDTF">2006-08-16T00:00:00Z</dcterms:created>
  <dcterms:modified xsi:type="dcterms:W3CDTF">2025-11-14T14:00:54Z</dcterms:modified>
  <dc:identifier>DAG4N2oLqB0</dc:identifier>
</cp:coreProperties>
</file>